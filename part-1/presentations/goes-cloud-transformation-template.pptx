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7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2743200" cy="2194560"/>
          </a:xfrm>
          <a:prstGeom prst="rect">
            <a:avLst/>
          </a:prstGeom>
          <a:solidFill>
            <a:srgbClr val="00BFB3">
              <a:alpha val="12000"/>
            </a:srgbClr>
          </a:solidFill>
          <a:ln w="12700">
            <a:solidFill>
              <a:srgbClr val="00BFB3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0"/>
            <a:ext cx="1280160" cy="5143500"/>
          </a:xfrm>
          <a:prstGeom prst="rect">
            <a:avLst/>
          </a:prstGeom>
          <a:solidFill>
            <a:srgbClr val="00BFB3">
              <a:alpha val="8000"/>
            </a:srgbClr>
          </a:solidFill>
          <a:ln w="12700">
            <a:solidFill>
              <a:srgbClr val="00BFB3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25712" y="0"/>
            <a:ext cx="18288" cy="5143500"/>
          </a:xfrm>
          <a:prstGeom prst="rect">
            <a:avLst/>
          </a:prstGeom>
          <a:solidFill>
            <a:srgbClr val="07273E"/>
          </a:solidFill>
          <a:ln w="12700">
            <a:solidFill>
              <a:srgbClr val="0727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FB3"/>
          </a:solidFill>
          <a:ln w="12700">
            <a:solidFill>
              <a:srgbClr val="00BFB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25603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400" kern="0" dirty="0">
                <a:solidFill>
                  <a:srgbClr val="00BF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elastic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92608" y="896112"/>
            <a:ext cx="1463040" cy="45720"/>
          </a:xfrm>
          <a:prstGeom prst="rect">
            <a:avLst/>
          </a:prstGeom>
          <a:solidFill>
            <a:srgbClr val="FEC514"/>
          </a:solidFill>
          <a:ln w="12700">
            <a:solidFill>
              <a:srgbClr val="FEC51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1005840"/>
            <a:ext cx="7315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Transformation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292608" y="260604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</a:rPr>
              <a:t>GOES — Global Online E-Commerce &amp; Streaming Content Provider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92608" y="3108960"/>
            <a:ext cx="3840480" cy="640080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8D9DA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1272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DAD"/>
                </a:solidFill>
              </a:rPr>
              <a:t>Presented by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33101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[Your Name]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1480" y="3593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D9DAD"/>
                </a:solidFill>
              </a:rPr>
              <a:t>[Date]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03520" y="2999232"/>
            <a:ext cx="877824" cy="877824"/>
          </a:xfrm>
          <a:prstGeom prst="rect">
            <a:avLst/>
          </a:prstGeom>
          <a:solidFill>
            <a:srgbClr val="00BFB3">
              <a:alpha val="18000"/>
            </a:srgbClr>
          </a:solidFill>
          <a:ln w="9525">
            <a:solidFill>
              <a:srgbClr val="00BFB3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0" y="3017520"/>
            <a:ext cx="8778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BFB3"/>
                </a:solidFill>
              </a:rPr>
              <a:t>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303520" y="3401568"/>
            <a:ext cx="8778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D9DAD"/>
                </a:solidFill>
              </a:rPr>
              <a:t>Core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8D9DAD"/>
                </a:solidFill>
              </a:rPr>
              <a:t>Services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6291072" y="2999232"/>
            <a:ext cx="877824" cy="877824"/>
          </a:xfrm>
          <a:prstGeom prst="rect">
            <a:avLst/>
          </a:prstGeom>
          <a:solidFill>
            <a:srgbClr val="00BFB3">
              <a:alpha val="18000"/>
            </a:srgbClr>
          </a:solidFill>
          <a:ln w="9525">
            <a:solidFill>
              <a:srgbClr val="00BFB3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91072" y="3017520"/>
            <a:ext cx="8778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BFB3"/>
                </a:solidFill>
              </a:rPr>
              <a:t>2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291072" y="3401568"/>
            <a:ext cx="8778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D9DAD"/>
                </a:solidFill>
              </a:rPr>
              <a:t>Global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8D9DAD"/>
                </a:solidFill>
              </a:rPr>
              <a:t>Data Centres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7278624" y="2999232"/>
            <a:ext cx="877824" cy="877824"/>
          </a:xfrm>
          <a:prstGeom prst="rect">
            <a:avLst/>
          </a:prstGeom>
          <a:solidFill>
            <a:srgbClr val="00BFB3">
              <a:alpha val="18000"/>
            </a:srgbClr>
          </a:solidFill>
          <a:ln w="9525">
            <a:solidFill>
              <a:srgbClr val="00BFB3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78624" y="3017520"/>
            <a:ext cx="8778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BFB3"/>
                </a:solidFill>
              </a:rPr>
              <a:t>M+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278624" y="3401568"/>
            <a:ext cx="8778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D9DAD"/>
                </a:solidFill>
              </a:rPr>
              <a:t>Active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8D9DAD"/>
                </a:solidFill>
              </a:rPr>
              <a:t>Users</a:t>
            </a:r>
            <a:endParaRPr lang="en-US" sz="7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>
            <a:alphaModFix amt="65000"/>
          </a:blip>
          <a:stretch>
            <a:fillRect/>
          </a:stretch>
        </p:blipFill>
        <p:spPr>
          <a:xfrm>
            <a:off x="6949440" y="274320"/>
            <a:ext cx="914400" cy="91440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61F2E"/>
          </a:solidFill>
          <a:ln w="12700">
            <a:solidFill>
              <a:srgbClr val="061F2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0" y="4887468"/>
            <a:ext cx="64008" cy="256032"/>
          </a:xfrm>
          <a:prstGeom prst="rect">
            <a:avLst/>
          </a:prstGeom>
          <a:solidFill>
            <a:srgbClr val="00BFB3"/>
          </a:solidFill>
          <a:ln w="12700">
            <a:solidFill>
              <a:srgbClr val="00BFB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64592" y="488746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D9DAD"/>
                </a:solidFill>
              </a:rPr>
              <a:t>Elastic Customer Architect Panel — Part 1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8503920" y="488746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D9DAD"/>
                </a:solidFill>
              </a:rPr>
              <a:t>1 / 4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7273E"/>
          </a:solidFill>
          <a:ln w="12700">
            <a:solidFill>
              <a:srgbClr val="0727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58368"/>
          </a:xfrm>
          <a:prstGeom prst="rect">
            <a:avLst/>
          </a:prstGeom>
          <a:solidFill>
            <a:srgbClr val="00BFB3"/>
          </a:solidFill>
          <a:ln w="12700">
            <a:solidFill>
              <a:srgbClr val="00B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8741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Current State &amp; The Challenge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61F2E"/>
          </a:solidFill>
          <a:ln w="12700">
            <a:solidFill>
              <a:srgbClr val="061F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87468"/>
            <a:ext cx="64008" cy="256032"/>
          </a:xfrm>
          <a:prstGeom prst="rect">
            <a:avLst/>
          </a:prstGeom>
          <a:solidFill>
            <a:srgbClr val="00BFB3"/>
          </a:solidFill>
          <a:ln w="12700">
            <a:solidFill>
              <a:srgbClr val="00BFB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488746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D9DAD"/>
                </a:solidFill>
              </a:rPr>
              <a:t>Elastic Customer Architect Panel — Part 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03920" y="488746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D9DAD"/>
                </a:solidFill>
              </a:rPr>
              <a:t>2 / 4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56032" y="804672"/>
            <a:ext cx="402336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804672"/>
            <a:ext cx="64008" cy="3749040"/>
          </a:xfrm>
          <a:prstGeom prst="rect">
            <a:avLst/>
          </a:prstGeom>
          <a:solidFill>
            <a:srgbClr val="00BFB3"/>
          </a:solidFill>
          <a:ln w="12700">
            <a:solidFill>
              <a:srgbClr val="00BFB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0BFB3"/>
                </a:solidFill>
              </a:rPr>
              <a:t>CURRENT STATE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38912" y="11338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273E"/>
                </a:solidFill>
              </a:rPr>
              <a:t>On-Premises Infrastructure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20624" y="1453896"/>
            <a:ext cx="310896" cy="310896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585" y="1509857"/>
            <a:ext cx="198973" cy="198973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22960" y="1417320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741"/>
                </a:solidFill>
              </a:rPr>
              <a:t>Multiple physical data centres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38912" y="1929384"/>
            <a:ext cx="3749040" cy="13716"/>
          </a:xfrm>
          <a:prstGeom prst="rect">
            <a:avLst/>
          </a:prstGeom>
          <a:solidFill>
            <a:srgbClr val="E0E6ED"/>
          </a:solidFill>
          <a:ln w="12700">
            <a:solidFill>
              <a:srgbClr val="E0E6E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20624" y="2020824"/>
            <a:ext cx="310896" cy="310896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585" y="2076785"/>
            <a:ext cx="198973" cy="198973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22960" y="1984248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741"/>
                </a:solidFill>
              </a:rPr>
              <a:t>Self-managed servers &amp; networking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38912" y="2496312"/>
            <a:ext cx="3749040" cy="13716"/>
          </a:xfrm>
          <a:prstGeom prst="rect">
            <a:avLst/>
          </a:prstGeom>
          <a:solidFill>
            <a:srgbClr val="E0E6ED"/>
          </a:solidFill>
          <a:ln w="12700">
            <a:solidFill>
              <a:srgbClr val="E0E6ED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20624" y="2587752"/>
            <a:ext cx="310896" cy="310896"/>
          </a:xfrm>
          <a:prstGeom prst="rect">
            <a:avLst/>
          </a:prstGeom>
          <a:solidFill>
            <a:srgbClr val="D5F5E3"/>
          </a:solidFill>
          <a:ln w="12700">
            <a:solidFill>
              <a:srgbClr val="D5F5E3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585" y="2643713"/>
            <a:ext cx="198973" cy="198973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22960" y="2551176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741"/>
                </a:solidFill>
              </a:rPr>
              <a:t>Manual security patching &amp; compliance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38912" y="3063240"/>
            <a:ext cx="3749040" cy="13716"/>
          </a:xfrm>
          <a:prstGeom prst="rect">
            <a:avLst/>
          </a:prstGeom>
          <a:solidFill>
            <a:srgbClr val="E0E6ED"/>
          </a:solidFill>
          <a:ln w="12700">
            <a:solidFill>
              <a:srgbClr val="E0E6ED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20624" y="3154680"/>
            <a:ext cx="310896" cy="310896"/>
          </a:xfrm>
          <a:prstGeom prst="rect">
            <a:avLst/>
          </a:prstGeom>
          <a:solidFill>
            <a:srgbClr val="FDEBD0"/>
          </a:solidFill>
          <a:ln w="12700">
            <a:solidFill>
              <a:srgbClr val="FDEBD0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585" y="3210641"/>
            <a:ext cx="198973" cy="198973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22960" y="3118104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741"/>
                </a:solidFill>
              </a:rPr>
              <a:t>Rigid, slow release cycles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438912" y="3630168"/>
            <a:ext cx="3749040" cy="13716"/>
          </a:xfrm>
          <a:prstGeom prst="rect">
            <a:avLst/>
          </a:prstGeom>
          <a:solidFill>
            <a:srgbClr val="E0E6ED"/>
          </a:solidFill>
          <a:ln w="12700">
            <a:solidFill>
              <a:srgbClr val="E0E6ED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420624" y="3721608"/>
            <a:ext cx="310896" cy="310896"/>
          </a:xfrm>
          <a:prstGeom prst="rect">
            <a:avLst/>
          </a:prstGeom>
          <a:solidFill>
            <a:srgbClr val="00BFB3"/>
          </a:solidFill>
          <a:ln w="12700">
            <a:solidFill>
              <a:srgbClr val="00BFB3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585" y="3777569"/>
            <a:ext cx="198973" cy="198973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822960" y="3685032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3741"/>
                </a:solidFill>
              </a:rPr>
              <a:t>Hard to scale for peak events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4498848" y="804672"/>
            <a:ext cx="43891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4498848" y="804672"/>
            <a:ext cx="64008" cy="3749040"/>
          </a:xfrm>
          <a:prstGeom prst="rect">
            <a:avLst/>
          </a:prstGeom>
          <a:solidFill>
            <a:srgbClr val="FEC514"/>
          </a:solidFill>
          <a:ln w="12700">
            <a:solidFill>
              <a:srgbClr val="FEC514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4681728" y="89611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EC514"/>
                </a:solidFill>
              </a:rPr>
              <a:t>KEY CHALLENGES</a:t>
            </a:r>
            <a:endParaRPr lang="en-US" sz="850" dirty="0"/>
          </a:p>
        </p:txBody>
      </p:sp>
      <p:sp>
        <p:nvSpPr>
          <p:cNvPr id="35" name="Text 28"/>
          <p:cNvSpPr/>
          <p:nvPr/>
        </p:nvSpPr>
        <p:spPr>
          <a:xfrm>
            <a:off x="4681728" y="113385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273E"/>
                </a:solidFill>
              </a:rPr>
              <a:t>Why Change Is Needed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4663440" y="1453896"/>
            <a:ext cx="310896" cy="310896"/>
          </a:xfrm>
          <a:prstGeom prst="rect">
            <a:avLst/>
          </a:prstGeom>
          <a:solidFill>
            <a:srgbClr val="00BFB3"/>
          </a:solidFill>
          <a:ln w="12700">
            <a:solidFill>
              <a:srgbClr val="00BFB3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9401" y="1509857"/>
            <a:ext cx="198973" cy="198973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5074920" y="1417320"/>
            <a:ext cx="3730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7273E"/>
                </a:solidFill>
              </a:rPr>
              <a:t>Scalability  </a:t>
            </a:r>
            <a:pPr indent="0" marL="0">
              <a:buNone/>
            </a:pPr>
            <a:r>
              <a:rPr lang="en-US" sz="950" dirty="0">
                <a:solidFill>
                  <a:srgbClr val="343741"/>
                </a:solidFill>
              </a:rPr>
              <a:t>Cannot elastically handle Black Friday spikes without over-provisioning hardware</a:t>
            </a:r>
            <a:endParaRPr lang="en-US" sz="1100" dirty="0"/>
          </a:p>
        </p:txBody>
      </p:sp>
      <p:sp>
        <p:nvSpPr>
          <p:cNvPr id="39" name="Shape 31"/>
          <p:cNvSpPr/>
          <p:nvPr/>
        </p:nvSpPr>
        <p:spPr>
          <a:xfrm>
            <a:off x="4681728" y="1929384"/>
            <a:ext cx="4114800" cy="13716"/>
          </a:xfrm>
          <a:prstGeom prst="rect">
            <a:avLst/>
          </a:prstGeom>
          <a:solidFill>
            <a:srgbClr val="E0E6ED"/>
          </a:solidFill>
          <a:ln w="12700">
            <a:solidFill>
              <a:srgbClr val="E0E6ED"/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>
            <a:off x="4663440" y="2020824"/>
            <a:ext cx="310896" cy="310896"/>
          </a:xfrm>
          <a:prstGeom prst="rect">
            <a:avLst/>
          </a:prstGeom>
          <a:solidFill>
            <a:srgbClr val="FDEBD0"/>
          </a:solidFill>
          <a:ln w="12700">
            <a:solidFill>
              <a:srgbClr val="FDEBD0"/>
            </a:solidFill>
            <a:prstDash val="solid"/>
          </a:ln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9401" y="2076785"/>
            <a:ext cx="198973" cy="198973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5074920" y="1984248"/>
            <a:ext cx="3730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7273E"/>
                </a:solidFill>
              </a:rPr>
              <a:t>Agility  </a:t>
            </a:r>
            <a:pPr indent="0" marL="0">
              <a:buNone/>
            </a:pPr>
            <a:r>
              <a:rPr lang="en-US" sz="950" dirty="0">
                <a:solidFill>
                  <a:srgbClr val="343741"/>
                </a:solidFill>
              </a:rPr>
              <a:t>Release cycles tied to change windows; frequent experimentation is blocked</a:t>
            </a:r>
            <a:endParaRPr lang="en-US" sz="1100" dirty="0"/>
          </a:p>
        </p:txBody>
      </p:sp>
      <p:sp>
        <p:nvSpPr>
          <p:cNvPr id="43" name="Shape 34"/>
          <p:cNvSpPr/>
          <p:nvPr/>
        </p:nvSpPr>
        <p:spPr>
          <a:xfrm>
            <a:off x="4681728" y="2496312"/>
            <a:ext cx="4114800" cy="13716"/>
          </a:xfrm>
          <a:prstGeom prst="rect">
            <a:avLst/>
          </a:prstGeom>
          <a:solidFill>
            <a:srgbClr val="E0E6ED"/>
          </a:solidFill>
          <a:ln w="12700">
            <a:solidFill>
              <a:srgbClr val="E0E6ED"/>
            </a:solidFill>
            <a:prstDash val="solid"/>
          </a:ln>
        </p:spPr>
      </p:sp>
      <p:sp>
        <p:nvSpPr>
          <p:cNvPr id="44" name="Shape 35"/>
          <p:cNvSpPr/>
          <p:nvPr/>
        </p:nvSpPr>
        <p:spPr>
          <a:xfrm>
            <a:off x="4663440" y="2587752"/>
            <a:ext cx="310896" cy="310896"/>
          </a:xfrm>
          <a:prstGeom prst="rect">
            <a:avLst/>
          </a:prstGeom>
          <a:solidFill>
            <a:srgbClr val="FEF9E7"/>
          </a:solidFill>
          <a:ln w="12700">
            <a:solidFill>
              <a:srgbClr val="FEF9E7"/>
            </a:solidFill>
            <a:prstDash val="solid"/>
          </a:ln>
        </p:spPr>
      </p:sp>
      <p:pic>
        <p:nvPicPr>
          <p:cNvPr id="4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19401" y="2643713"/>
            <a:ext cx="198973" cy="198973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5074920" y="2551176"/>
            <a:ext cx="3730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7273E"/>
                </a:solidFill>
              </a:rPr>
              <a:t>Cost  </a:t>
            </a:r>
            <a:pPr indent="0" marL="0">
              <a:buNone/>
            </a:pPr>
            <a:r>
              <a:rPr lang="en-US" sz="950" dirty="0">
                <a:solidFill>
                  <a:srgbClr val="343741"/>
                </a:solidFill>
              </a:rPr>
              <a:t>CapEx model means paying for peak capacity year-round; idle hardware off-peak</a:t>
            </a:r>
            <a:endParaRPr lang="en-US" sz="1100" dirty="0"/>
          </a:p>
        </p:txBody>
      </p:sp>
      <p:sp>
        <p:nvSpPr>
          <p:cNvPr id="47" name="Shape 37"/>
          <p:cNvSpPr/>
          <p:nvPr/>
        </p:nvSpPr>
        <p:spPr>
          <a:xfrm>
            <a:off x="4681728" y="3063240"/>
            <a:ext cx="4114800" cy="13716"/>
          </a:xfrm>
          <a:prstGeom prst="rect">
            <a:avLst/>
          </a:prstGeom>
          <a:solidFill>
            <a:srgbClr val="E0E6ED"/>
          </a:solidFill>
          <a:ln w="12700">
            <a:solidFill>
              <a:srgbClr val="E0E6ED"/>
            </a:solidFill>
            <a:prstDash val="solid"/>
          </a:ln>
        </p:spPr>
      </p:sp>
      <p:sp>
        <p:nvSpPr>
          <p:cNvPr id="48" name="Shape 38"/>
          <p:cNvSpPr/>
          <p:nvPr/>
        </p:nvSpPr>
        <p:spPr>
          <a:xfrm>
            <a:off x="4663440" y="3154680"/>
            <a:ext cx="310896" cy="310896"/>
          </a:xfrm>
          <a:prstGeom prst="rect">
            <a:avLst/>
          </a:prstGeom>
          <a:solidFill>
            <a:srgbClr val="FDEDEC"/>
          </a:solidFill>
          <a:ln w="12700">
            <a:solidFill>
              <a:srgbClr val="FDEDEC"/>
            </a:solidFill>
            <a:prstDash val="solid"/>
          </a:ln>
        </p:spPr>
      </p:sp>
      <p:pic>
        <p:nvPicPr>
          <p:cNvPr id="4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19401" y="3210641"/>
            <a:ext cx="198973" cy="198973"/>
          </a:xfrm>
          <a:prstGeom prst="rect">
            <a:avLst/>
          </a:prstGeom>
        </p:spPr>
      </p:pic>
      <p:sp>
        <p:nvSpPr>
          <p:cNvPr id="50" name="Text 39"/>
          <p:cNvSpPr/>
          <p:nvPr/>
        </p:nvSpPr>
        <p:spPr>
          <a:xfrm>
            <a:off x="5074920" y="3118104"/>
            <a:ext cx="3730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7273E"/>
                </a:solidFill>
              </a:rPr>
              <a:t>Resilience  </a:t>
            </a:r>
            <a:pPr indent="0" marL="0">
              <a:buNone/>
            </a:pPr>
            <a:r>
              <a:rPr lang="en-US" sz="950" dirty="0">
                <a:solidFill>
                  <a:srgbClr val="343741"/>
                </a:solidFill>
              </a:rPr>
              <a:t>Limited DC redundancy — any outage translates directly to revenue loss</a:t>
            </a:r>
            <a:endParaRPr lang="en-US" sz="1100" dirty="0"/>
          </a:p>
        </p:txBody>
      </p:sp>
      <p:sp>
        <p:nvSpPr>
          <p:cNvPr id="51" name="Shape 40"/>
          <p:cNvSpPr/>
          <p:nvPr/>
        </p:nvSpPr>
        <p:spPr>
          <a:xfrm>
            <a:off x="4681728" y="3630168"/>
            <a:ext cx="4114800" cy="13716"/>
          </a:xfrm>
          <a:prstGeom prst="rect">
            <a:avLst/>
          </a:prstGeom>
          <a:solidFill>
            <a:srgbClr val="E0E6ED"/>
          </a:solidFill>
          <a:ln w="12700">
            <a:solidFill>
              <a:srgbClr val="E0E6ED"/>
            </a:solidFill>
            <a:prstDash val="solid"/>
          </a:ln>
        </p:spPr>
      </p:sp>
      <p:sp>
        <p:nvSpPr>
          <p:cNvPr id="52" name="Shape 41"/>
          <p:cNvSpPr/>
          <p:nvPr/>
        </p:nvSpPr>
        <p:spPr>
          <a:xfrm>
            <a:off x="4663440" y="3721608"/>
            <a:ext cx="310896" cy="310896"/>
          </a:xfrm>
          <a:prstGeom prst="rect">
            <a:avLst/>
          </a:prstGeom>
          <a:solidFill>
            <a:srgbClr val="D5F5E3"/>
          </a:solidFill>
          <a:ln w="12700">
            <a:solidFill>
              <a:srgbClr val="D5F5E3"/>
            </a:solidFill>
            <a:prstDash val="solid"/>
          </a:ln>
        </p:spPr>
      </p:sp>
      <p:pic>
        <p:nvPicPr>
          <p:cNvPr id="5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19401" y="3777569"/>
            <a:ext cx="198973" cy="198973"/>
          </a:xfrm>
          <a:prstGeom prst="rect">
            <a:avLst/>
          </a:prstGeom>
        </p:spPr>
      </p:pic>
      <p:sp>
        <p:nvSpPr>
          <p:cNvPr id="54" name="Text 42"/>
          <p:cNvSpPr/>
          <p:nvPr/>
        </p:nvSpPr>
        <p:spPr>
          <a:xfrm>
            <a:off x="5074920" y="3685032"/>
            <a:ext cx="3730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7273E"/>
                </a:solidFill>
              </a:rPr>
              <a:t>Compliance  </a:t>
            </a:r>
            <a:pPr indent="0" marL="0">
              <a:buNone/>
            </a:pPr>
            <a:r>
              <a:rPr lang="en-US" sz="950" dirty="0">
                <a:solidFill>
                  <a:srgbClr val="343741"/>
                </a:solidFill>
              </a:rPr>
              <a:t>GDPR and PCI-DSS requirements hard to enforce consistently across physical DCs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7273E"/>
          </a:solidFill>
          <a:ln w="12700">
            <a:solidFill>
              <a:srgbClr val="0727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58368"/>
          </a:xfrm>
          <a:prstGeom prst="rect">
            <a:avLst/>
          </a:prstGeom>
          <a:solidFill>
            <a:srgbClr val="00BFB3"/>
          </a:solidFill>
          <a:ln w="12700">
            <a:solidFill>
              <a:srgbClr val="00B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8741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Target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01168" y="402336"/>
            <a:ext cx="8741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00BFB3"/>
                </a:solidFill>
              </a:rPr>
              <a:t>Insert your architecture diagram below — any cloud provider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61F2E"/>
          </a:solidFill>
          <a:ln w="12700">
            <a:solidFill>
              <a:srgbClr val="061F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887468"/>
            <a:ext cx="64008" cy="256032"/>
          </a:xfrm>
          <a:prstGeom prst="rect">
            <a:avLst/>
          </a:prstGeom>
          <a:solidFill>
            <a:srgbClr val="00BFB3"/>
          </a:solidFill>
          <a:ln w="12700">
            <a:solidFill>
              <a:srgbClr val="00BFB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488746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D9DAD"/>
                </a:solidFill>
              </a:rPr>
              <a:t>Elastic Customer Architect Panel — Part 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503920" y="488746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D9DAD"/>
                </a:solidFill>
              </a:rPr>
              <a:t>3 / 4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56032" y="804672"/>
            <a:ext cx="5852160" cy="37490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FB3"/>
            </a:solidFill>
            <a:prstDash val="dash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alphaModFix amt="35000"/>
          </a:blip>
          <a:stretch>
            <a:fillRect/>
          </a:stretch>
        </p:blipFill>
        <p:spPr>
          <a:xfrm>
            <a:off x="2651760" y="1298448"/>
            <a:ext cx="1005840" cy="10058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30352" y="237744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FB3"/>
                </a:solidFill>
              </a:rPr>
              <a:t>Insert Your Architecture Diagram Here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30352" y="276148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DAD"/>
                </a:solidFill>
              </a:rPr>
              <a:t>Paste a PNG, JPG or SVG — or draw directly in PowerPoint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30352" y="3090672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273E"/>
                </a:solidFill>
              </a:rPr>
              <a:t>Tip: </a:t>
            </a:r>
            <a:pPr algn="ctr" indent="0" marL="0">
              <a:buNone/>
            </a:pPr>
            <a:r>
              <a:rPr lang="en-US" sz="1000" dirty="0">
                <a:solidFill>
                  <a:srgbClr val="343741"/>
                </a:solidFill>
              </a:rPr>
              <a:t>A step-by-step migration diagram OR the final target-state architecture both work well.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91072" y="804672"/>
            <a:ext cx="2596896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291072" y="804672"/>
            <a:ext cx="64008" cy="3749040"/>
          </a:xfrm>
          <a:prstGeom prst="rect">
            <a:avLst/>
          </a:prstGeom>
          <a:solidFill>
            <a:srgbClr val="00BFB3"/>
          </a:solidFill>
          <a:ln w="12700">
            <a:solidFill>
              <a:srgbClr val="00BFB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73952" y="896112"/>
            <a:ext cx="2368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FB3"/>
                </a:solidFill>
              </a:rPr>
              <a:t>DESIGN PRINCIPLES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6455664" y="1252728"/>
            <a:ext cx="292608" cy="292608"/>
          </a:xfrm>
          <a:prstGeom prst="rect">
            <a:avLst/>
          </a:prstGeom>
          <a:solidFill>
            <a:srgbClr val="00BFB3"/>
          </a:solidFill>
          <a:ln w="12700">
            <a:solidFill>
              <a:srgbClr val="00BFB3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8333" y="1305397"/>
            <a:ext cx="187269" cy="187269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839712" y="1207008"/>
            <a:ext cx="19751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7273E"/>
                </a:solidFill>
              </a:rPr>
              <a:t>Scalability
</a:t>
            </a:r>
            <a:pPr indent="0" marL="0">
              <a:buNone/>
            </a:pPr>
            <a:r>
              <a:rPr lang="en-US" sz="800" dirty="0">
                <a:solidFill>
                  <a:srgbClr val="343741"/>
                </a:solidFill>
              </a:rPr>
              <a:t>Auto-scale to handle peak traffic without over-provisioning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6455664" y="1911096"/>
            <a:ext cx="292608" cy="292608"/>
          </a:xfrm>
          <a:prstGeom prst="rect">
            <a:avLst/>
          </a:prstGeom>
          <a:solidFill>
            <a:srgbClr val="00827F"/>
          </a:solidFill>
          <a:ln w="12700">
            <a:solidFill>
              <a:srgbClr val="00827F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8333" y="1963765"/>
            <a:ext cx="187269" cy="187269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839712" y="1865376"/>
            <a:ext cx="19751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7273E"/>
                </a:solidFill>
              </a:rPr>
              <a:t>Security
</a:t>
            </a:r>
            <a:pPr indent="0" marL="0">
              <a:buNone/>
            </a:pPr>
            <a:r>
              <a:rPr lang="en-US" sz="800" dirty="0">
                <a:solidFill>
                  <a:srgbClr val="343741"/>
                </a:solidFill>
              </a:rPr>
              <a:t>Zero-trust, encryption at rest &amp; in transit, GDPR controls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6455664" y="2569464"/>
            <a:ext cx="292608" cy="292608"/>
          </a:xfrm>
          <a:prstGeom prst="rect">
            <a:avLst/>
          </a:prstGeom>
          <a:solidFill>
            <a:srgbClr val="FEC514"/>
          </a:solidFill>
          <a:ln w="12700">
            <a:solidFill>
              <a:srgbClr val="FEC514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8333" y="2622133"/>
            <a:ext cx="187269" cy="187269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839712" y="2523744"/>
            <a:ext cx="19751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7273E"/>
                </a:solidFill>
              </a:rPr>
              <a:t>Cost Control
</a:t>
            </a:r>
            <a:pPr indent="0" marL="0">
              <a:buNone/>
            </a:pPr>
            <a:r>
              <a:rPr lang="en-US" sz="800" dirty="0">
                <a:solidFill>
                  <a:srgbClr val="343741"/>
                </a:solidFill>
              </a:rPr>
              <a:t>OpEx model: right-sizing and reserved capacity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6455664" y="3227832"/>
            <a:ext cx="292608" cy="292608"/>
          </a:xfrm>
          <a:prstGeom prst="rect">
            <a:avLst/>
          </a:prstGeom>
          <a:solidFill>
            <a:srgbClr val="00BFB3"/>
          </a:solidFill>
          <a:ln w="12700">
            <a:solidFill>
              <a:srgbClr val="00BFB3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8333" y="3280501"/>
            <a:ext cx="187269" cy="187269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839712" y="3182112"/>
            <a:ext cx="19751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7273E"/>
                </a:solidFill>
              </a:rPr>
              <a:t>Agility
</a:t>
            </a:r>
            <a:pPr indent="0" marL="0">
              <a:buNone/>
            </a:pPr>
            <a:r>
              <a:rPr lang="en-US" sz="800" dirty="0">
                <a:solidFill>
                  <a:srgbClr val="343741"/>
                </a:solidFill>
              </a:rPr>
              <a:t>CI/CD, IaC, and feature flags for rapid deployment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6455664" y="3886200"/>
            <a:ext cx="292608" cy="292608"/>
          </a:xfrm>
          <a:prstGeom prst="rect">
            <a:avLst/>
          </a:prstGeom>
          <a:solidFill>
            <a:srgbClr val="007A6B"/>
          </a:solidFill>
          <a:ln w="12700">
            <a:solidFill>
              <a:srgbClr val="007A6B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8333" y="3938869"/>
            <a:ext cx="187269" cy="187269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839712" y="3840480"/>
            <a:ext cx="19751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7273E"/>
                </a:solidFill>
              </a:rPr>
              <a:t>Resilience
</a:t>
            </a:r>
            <a:pPr indent="0" marL="0">
              <a:buNone/>
            </a:pPr>
            <a:r>
              <a:rPr lang="en-US" sz="800" dirty="0">
                <a:solidFill>
                  <a:srgbClr val="343741"/>
                </a:solidFill>
              </a:rPr>
              <a:t>Multi-region active-active, 99.99% SLA target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27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1F2E"/>
          </a:solidFill>
          <a:ln w="12700">
            <a:solidFill>
              <a:srgbClr val="061F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58368"/>
          </a:xfrm>
          <a:prstGeom prst="rect">
            <a:avLst/>
          </a:prstGeom>
          <a:solidFill>
            <a:srgbClr val="FEC514"/>
          </a:solidFill>
          <a:ln w="12700">
            <a:solidFill>
              <a:srgbClr val="FEC5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8741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Risks, Mitigation &amp; Opportunities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394960" y="777240"/>
            <a:ext cx="36576" cy="3749040"/>
          </a:xfrm>
          <a:prstGeom prst="rect">
            <a:avLst/>
          </a:prstGeom>
          <a:solidFill>
            <a:srgbClr val="00BFB3"/>
          </a:solidFill>
          <a:ln w="12700">
            <a:solidFill>
              <a:srgbClr val="00BFB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786384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EC514"/>
                </a:solidFill>
              </a:rPr>
              <a:t>RISKS &amp; MITIGATION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577840" y="78638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0BFB3"/>
                </a:solidFill>
              </a:rPr>
              <a:t>OPPORTUNITIES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56032" y="1115568"/>
            <a:ext cx="4992624" cy="768096"/>
          </a:xfrm>
          <a:prstGeom prst="rect">
            <a:avLst/>
          </a:prstGeom>
          <a:solidFill>
            <a:srgbClr val="0A2233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115568"/>
            <a:ext cx="109728" cy="76809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" y="1316736"/>
            <a:ext cx="347472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1457" y="1379281"/>
            <a:ext cx="222382" cy="22238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77824" y="11887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Migration
</a:t>
            </a:r>
            <a:pPr indent="0" marL="0">
              <a:buNone/>
            </a:pPr>
            <a:r>
              <a:rPr lang="en-US" sz="900" dirty="0">
                <a:solidFill>
                  <a:srgbClr val="8D9DAD"/>
                </a:solidFill>
              </a:rPr>
              <a:t>Phased lift-and-shift with parallel-run validation; rollback plan per wave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56032" y="1938528"/>
            <a:ext cx="4992624" cy="768096"/>
          </a:xfrm>
          <a:prstGeom prst="rect">
            <a:avLst/>
          </a:prstGeom>
          <a:solidFill>
            <a:srgbClr val="0A2233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56032" y="1938528"/>
            <a:ext cx="109728" cy="768096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38912" y="2139696"/>
            <a:ext cx="347472" cy="347472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457" y="2202241"/>
            <a:ext cx="222382" cy="22238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77824" y="20116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Vendor Lock-in
</a:t>
            </a:r>
            <a:pPr indent="0" marL="0">
              <a:buNone/>
            </a:pPr>
            <a:r>
              <a:rPr lang="en-US" sz="900" dirty="0">
                <a:solidFill>
                  <a:srgbClr val="8D9DAD"/>
                </a:solidFill>
              </a:rPr>
              <a:t>Cloud-agnostic abstractions (Kubernetes, Terraform IaC); multi-cloud escape hatches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256032" y="2761488"/>
            <a:ext cx="4992624" cy="768096"/>
          </a:xfrm>
          <a:prstGeom prst="rect">
            <a:avLst/>
          </a:prstGeom>
          <a:solidFill>
            <a:srgbClr val="0A2233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256032" y="2761488"/>
            <a:ext cx="109728" cy="768096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38912" y="2962656"/>
            <a:ext cx="347472" cy="347472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457" y="3025201"/>
            <a:ext cx="222382" cy="22238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77824" y="28346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Security &amp; Compliance
</a:t>
            </a:r>
            <a:pPr indent="0" marL="0">
              <a:buNone/>
            </a:pPr>
            <a:r>
              <a:rPr lang="en-US" sz="900" dirty="0">
                <a:solidFill>
                  <a:srgbClr val="8D9DAD"/>
                </a:solidFill>
              </a:rPr>
              <a:t>CSPM tooling, DLP controls, GDPR data-residency enforcement, PCI audit trail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256032" y="3584448"/>
            <a:ext cx="4992624" cy="768096"/>
          </a:xfrm>
          <a:prstGeom prst="rect">
            <a:avLst/>
          </a:prstGeom>
          <a:solidFill>
            <a:srgbClr val="0A2233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256032" y="3584448"/>
            <a:ext cx="109728" cy="768096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38912" y="3785616"/>
            <a:ext cx="347472" cy="34747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457" y="3848161"/>
            <a:ext cx="222382" cy="22238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77824" y="365760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Operational Readiness
</a:t>
            </a:r>
            <a:pPr indent="0" marL="0">
              <a:buNone/>
            </a:pPr>
            <a:r>
              <a:rPr lang="en-US" sz="900" dirty="0">
                <a:solidFill>
                  <a:srgbClr val="8D9DAD"/>
                </a:solidFill>
              </a:rPr>
              <a:t>Runbook migration, SRE upskilling, phased cutover gated by feature flags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5596128" y="1207008"/>
            <a:ext cx="310896" cy="310896"/>
          </a:xfrm>
          <a:prstGeom prst="rect">
            <a:avLst/>
          </a:prstGeom>
          <a:solidFill>
            <a:srgbClr val="00BFB3"/>
          </a:solidFill>
          <a:ln w="12700">
            <a:solidFill>
              <a:srgbClr val="00BFB3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2089" y="1262969"/>
            <a:ext cx="198973" cy="198973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998464" y="1170432"/>
            <a:ext cx="2926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Elastic Scalability
</a:t>
            </a:r>
            <a:pPr indent="0" marL="0">
              <a:buNone/>
            </a:pPr>
            <a:r>
              <a:rPr lang="en-US" sz="900" dirty="0">
                <a:solidFill>
                  <a:srgbClr val="8D9DAD"/>
                </a:solidFill>
              </a:rPr>
              <a:t>Burst to handle Black Friday — zero hardware pre-provisioning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5577840" y="1847088"/>
            <a:ext cx="3337560" cy="18288"/>
          </a:xfrm>
          <a:prstGeom prst="rect">
            <a:avLst/>
          </a:prstGeom>
          <a:solidFill>
            <a:srgbClr val="0A2233"/>
          </a:solidFill>
          <a:ln w="12700">
            <a:solidFill>
              <a:srgbClr val="0A2233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5596128" y="1956816"/>
            <a:ext cx="310896" cy="310896"/>
          </a:xfrm>
          <a:prstGeom prst="rect">
            <a:avLst/>
          </a:prstGeom>
          <a:solidFill>
            <a:srgbClr val="00BFB3"/>
          </a:solidFill>
          <a:ln w="12700">
            <a:solidFill>
              <a:srgbClr val="00BFB3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52089" y="2012777"/>
            <a:ext cx="198973" cy="198973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998464" y="1920240"/>
            <a:ext cx="2926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Faster Innovation
</a:t>
            </a:r>
            <a:pPr indent="0" marL="0">
              <a:buNone/>
            </a:pPr>
            <a:r>
              <a:rPr lang="en-US" sz="900" dirty="0">
                <a:solidFill>
                  <a:srgbClr val="8D9DAD"/>
                </a:solidFill>
              </a:rPr>
              <a:t>Multiple deploys per day via CI/CD pipelines and feature flags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5577840" y="2596896"/>
            <a:ext cx="3337560" cy="18288"/>
          </a:xfrm>
          <a:prstGeom prst="rect">
            <a:avLst/>
          </a:prstGeom>
          <a:solidFill>
            <a:srgbClr val="0A2233"/>
          </a:solidFill>
          <a:ln w="12700">
            <a:solidFill>
              <a:srgbClr val="0A2233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5596128" y="2706624"/>
            <a:ext cx="310896" cy="310896"/>
          </a:xfrm>
          <a:prstGeom prst="rect">
            <a:avLst/>
          </a:prstGeom>
          <a:solidFill>
            <a:srgbClr val="FEC514"/>
          </a:solidFill>
          <a:ln w="12700">
            <a:solidFill>
              <a:srgbClr val="FEC514"/>
            </a:solidFill>
            <a:prstDash val="solid"/>
          </a:ln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52089" y="2762585"/>
            <a:ext cx="198973" cy="198973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5998464" y="2670048"/>
            <a:ext cx="2926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Global Reach
</a:t>
            </a:r>
            <a:pPr indent="0" marL="0">
              <a:buNone/>
            </a:pPr>
            <a:r>
              <a:rPr lang="en-US" sz="900" dirty="0">
                <a:solidFill>
                  <a:srgbClr val="8D9DAD"/>
                </a:solidFill>
              </a:rPr>
              <a:t>CDN edge + multi-region reduces latency for all customers</a:t>
            </a:r>
            <a:endParaRPr lang="en-US" sz="1100" dirty="0"/>
          </a:p>
        </p:txBody>
      </p:sp>
      <p:sp>
        <p:nvSpPr>
          <p:cNvPr id="39" name="Shape 30"/>
          <p:cNvSpPr/>
          <p:nvPr/>
        </p:nvSpPr>
        <p:spPr>
          <a:xfrm>
            <a:off x="5577840" y="3346704"/>
            <a:ext cx="3337560" cy="18288"/>
          </a:xfrm>
          <a:prstGeom prst="rect">
            <a:avLst/>
          </a:prstGeom>
          <a:solidFill>
            <a:srgbClr val="0A2233"/>
          </a:solidFill>
          <a:ln w="12700">
            <a:solidFill>
              <a:srgbClr val="0A2233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5596128" y="3456432"/>
            <a:ext cx="310896" cy="310896"/>
          </a:xfrm>
          <a:prstGeom prst="rect">
            <a:avLst/>
          </a:prstGeom>
          <a:solidFill>
            <a:srgbClr val="00827F"/>
          </a:solidFill>
          <a:ln w="12700">
            <a:solidFill>
              <a:srgbClr val="00827F"/>
            </a:solidFill>
            <a:prstDash val="solid"/>
          </a:ln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52089" y="3512393"/>
            <a:ext cx="198973" cy="198973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5998464" y="3419856"/>
            <a:ext cx="2926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Managed Compliance
</a:t>
            </a:r>
            <a:pPr indent="0" marL="0">
              <a:buNone/>
            </a:pPr>
            <a:r>
              <a:rPr lang="en-US" sz="900" dirty="0">
                <a:solidFill>
                  <a:srgbClr val="8D9DAD"/>
                </a:solidFill>
              </a:rPr>
              <a:t>Cloud-native GDPR and PCI tooling reduces audit overhead</a:t>
            </a:r>
            <a:endParaRPr lang="en-US" sz="1100" dirty="0"/>
          </a:p>
        </p:txBody>
      </p:sp>
      <p:sp>
        <p:nvSpPr>
          <p:cNvPr id="43" name="Shape 33"/>
          <p:cNvSpPr/>
          <p:nvPr/>
        </p:nvSpPr>
        <p:spPr>
          <a:xfrm>
            <a:off x="5577840" y="4096512"/>
            <a:ext cx="3337560" cy="18288"/>
          </a:xfrm>
          <a:prstGeom prst="rect">
            <a:avLst/>
          </a:prstGeom>
          <a:solidFill>
            <a:srgbClr val="0A2233"/>
          </a:solidFill>
          <a:ln w="12700">
            <a:solidFill>
              <a:srgbClr val="0A2233"/>
            </a:solidFill>
            <a:prstDash val="solid"/>
          </a:ln>
        </p:spPr>
      </p:sp>
      <p:sp>
        <p:nvSpPr>
          <p:cNvPr id="44" name="Shape 34"/>
          <p:cNvSpPr/>
          <p:nvPr/>
        </p:nvSpPr>
        <p:spPr>
          <a:xfrm>
            <a:off x="5596128" y="4206240"/>
            <a:ext cx="310896" cy="310896"/>
          </a:xfrm>
          <a:prstGeom prst="rect">
            <a:avLst/>
          </a:prstGeom>
          <a:solidFill>
            <a:srgbClr val="FEC514"/>
          </a:solidFill>
          <a:ln w="12700">
            <a:solidFill>
              <a:srgbClr val="FEC514"/>
            </a:solidFill>
            <a:prstDash val="solid"/>
          </a:ln>
        </p:spPr>
      </p:sp>
      <p:pic>
        <p:nvPicPr>
          <p:cNvPr id="4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52089" y="4262201"/>
            <a:ext cx="198973" cy="198973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5998464" y="4169664"/>
            <a:ext cx="2926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Cost Optimisation
</a:t>
            </a:r>
            <a:pPr indent="0" marL="0">
              <a:buNone/>
            </a:pPr>
            <a:r>
              <a:rPr lang="en-US" sz="900" dirty="0">
                <a:solidFill>
                  <a:srgbClr val="8D9DAD"/>
                </a:solidFill>
              </a:rPr>
              <a:t>Reserved + spot instances cut idle capacity costs 30–50%</a:t>
            </a:r>
            <a:endParaRPr lang="en-US" sz="1100" dirty="0"/>
          </a:p>
        </p:txBody>
      </p:sp>
      <p:sp>
        <p:nvSpPr>
          <p:cNvPr id="47" name="Shape 36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61F2E"/>
          </a:solidFill>
          <a:ln w="12700">
            <a:solidFill>
              <a:srgbClr val="061F2E"/>
            </a:solidFill>
            <a:prstDash val="solid"/>
          </a:ln>
        </p:spPr>
      </p:sp>
      <p:sp>
        <p:nvSpPr>
          <p:cNvPr id="48" name="Shape 37"/>
          <p:cNvSpPr/>
          <p:nvPr/>
        </p:nvSpPr>
        <p:spPr>
          <a:xfrm>
            <a:off x="0" y="4887468"/>
            <a:ext cx="64008" cy="256032"/>
          </a:xfrm>
          <a:prstGeom prst="rect">
            <a:avLst/>
          </a:prstGeom>
          <a:solidFill>
            <a:srgbClr val="00BFB3"/>
          </a:solidFill>
          <a:ln w="12700">
            <a:solidFill>
              <a:srgbClr val="00BFB3"/>
            </a:solidFill>
            <a:prstDash val="solid"/>
          </a:ln>
        </p:spPr>
      </p:sp>
      <p:sp>
        <p:nvSpPr>
          <p:cNvPr id="49" name="Text 38"/>
          <p:cNvSpPr/>
          <p:nvPr/>
        </p:nvSpPr>
        <p:spPr>
          <a:xfrm>
            <a:off x="164592" y="488746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D9DAD"/>
                </a:solidFill>
              </a:rPr>
              <a:t>Elastic Customer Architect Panel — Part 1</a:t>
            </a:r>
            <a:endParaRPr lang="en-US" sz="800" dirty="0"/>
          </a:p>
        </p:txBody>
      </p:sp>
      <p:sp>
        <p:nvSpPr>
          <p:cNvPr id="50" name="Text 39"/>
          <p:cNvSpPr/>
          <p:nvPr/>
        </p:nvSpPr>
        <p:spPr>
          <a:xfrm>
            <a:off x="8503920" y="488746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D9DAD"/>
                </a:solidFill>
              </a:rPr>
              <a:t>4 / 4</a:t>
            </a:r>
            <a:endParaRPr lang="en-US" sz="800" dirty="0"/>
          </a:p>
        </p:txBody>
      </p:sp>
      <p:sp>
        <p:nvSpPr>
          <p:cNvPr id="51" name="Shape 40"/>
          <p:cNvSpPr/>
          <p:nvPr/>
        </p:nvSpPr>
        <p:spPr>
          <a:xfrm>
            <a:off x="0" y="4887468"/>
            <a:ext cx="64008" cy="256032"/>
          </a:xfrm>
          <a:prstGeom prst="rect">
            <a:avLst/>
          </a:prstGeom>
          <a:solidFill>
            <a:srgbClr val="FEC514"/>
          </a:solidFill>
          <a:ln w="12700">
            <a:solidFill>
              <a:srgbClr val="FEC51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Transformation Strategy — Elastic CA Panel Template</dc:title>
  <dc:subject>PptxGenJS Presentation</dc:subject>
  <dc:creator>Elastic</dc:creator>
  <cp:lastModifiedBy>Elastic</cp:lastModifiedBy>
  <cp:revision>1</cp:revision>
  <dcterms:created xsi:type="dcterms:W3CDTF">2026-04-17T18:23:55Z</dcterms:created>
  <dcterms:modified xsi:type="dcterms:W3CDTF">2026-04-17T18:23:55Z</dcterms:modified>
</cp:coreProperties>
</file>